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8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C52"/>
                </a:solidFill>
              </a:rPr>
              <a:t>Final Internship Presentation: Sales Analytics &amp; Dashboard Insights</a:t>
            </a:r>
          </a:p>
          <a:p>
            <a:pPr>
              <a:defRPr sz="1100">
                <a:solidFill>
                  <a:srgbClr val="5A5A5A"/>
                </a:solidFill>
              </a:defRPr>
            </a:pPr>
            <a:r>
              <a:t>ApexPlanet Software Pvt. Ltd.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C52"/>
                </a:solidFill>
              </a:defRPr>
            </a:pPr>
            <a:r>
              <a:t>Internship Portfolio Presentation</a:t>
            </a:r>
          </a:p>
          <a:p>
            <a:pPr>
              <a:defRPr sz="1800">
                <a:solidFill>
                  <a:srgbClr val="5A5A5A"/>
                </a:solidFill>
              </a:defRPr>
            </a:pPr>
            <a:r>
              <a:t>A concise business story built from sales transactions, dashboarding, and analytical validation.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846320"/>
            <a:ext cx="4572000" cy="9144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Objective: turn raw sales data into decision-ready insights.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C52"/>
                </a:solidFill>
              </a:rPr>
              <a:t>Internship Journey</a:t>
            </a:r>
          </a:p>
          <a:p>
            <a:pPr>
              <a:defRPr sz="1100">
                <a:solidFill>
                  <a:srgbClr val="5A5A5A"/>
                </a:solidFill>
              </a:defRPr>
            </a:pPr>
            <a:r>
              <a:t>60-day program overview: Tasks 1–5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156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42C52"/>
                </a:solidFill>
              </a:defRPr>
            </a:pPr>
            <a:r>
              <a:t>Task 1: Data understanding, cleaning, and initial inspection.</a:t>
            </a:r>
          </a:p>
          <a:p>
            <a:pPr>
              <a:defRPr sz="1800">
                <a:solidFill>
                  <a:srgbClr val="5A5A5A"/>
                </a:solidFill>
              </a:defRPr>
            </a:pPr>
            <a:r>
              <a:t>Task 2: Exploratory analysis and KPI definition.</a:t>
            </a:r>
          </a:p>
          <a:p>
            <a:pPr>
              <a:defRPr sz="1800">
                <a:solidFill>
                  <a:srgbClr val="5A5A5A"/>
                </a:solidFill>
              </a:defRPr>
            </a:pPr>
            <a:r>
              <a:t>Task 3: Category, region, and product segmentation.</a:t>
            </a:r>
          </a:p>
          <a:p>
            <a:pPr>
              <a:defRPr sz="1800">
                <a:solidFill>
                  <a:srgbClr val="5A5A5A"/>
                </a:solidFill>
              </a:defRPr>
            </a:pPr>
            <a:r>
              <a:t>Task 4: Dashboard design and visual storytelling in Power BI.</a:t>
            </a:r>
          </a:p>
          <a:p>
            <a:pPr>
              <a:defRPr sz="1800">
                <a:solidFill>
                  <a:srgbClr val="5A5A5A"/>
                </a:solidFill>
              </a:defRPr>
            </a:pPr>
            <a:r>
              <a:t>Task 5: Final presentation, portfolio consolidation, and reflection.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C52"/>
                </a:solidFill>
              </a:rPr>
              <a:t>Dataset Overview</a:t>
            </a:r>
          </a:p>
          <a:p>
            <a:pPr>
              <a:defRPr sz="1100">
                <a:solidFill>
                  <a:srgbClr val="5A5A5A"/>
                </a:solidFill>
              </a:defRPr>
            </a:pPr>
            <a:r>
              <a:t>Sales transactions used for the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4572000" cy="3291840"/>
          </a:xfrm>
          <a:prstGeom prst="roundRect">
            <a:avLst/>
          </a:prstGeom>
          <a:solidFill>
            <a:srgbClr val="E9F2FB"/>
          </a:solidFill>
          <a:ln>
            <a:solidFill>
              <a:srgbClr val="2F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42C52"/>
                </a:solidFill>
              </a:defRPr>
            </a:pPr>
            <a:r>
              <a:t>Fields included</a:t>
            </a:r>
          </a:p>
          <a:p>
            <a:pPr>
              <a:defRPr sz="1600">
                <a:solidFill>
                  <a:srgbClr val="5A5A5A"/>
                </a:solidFill>
              </a:defRPr>
            </a:pPr>
            <a:r>
              <a:t>Order Date</a:t>
            </a:r>
          </a:p>
          <a:p>
            <a:pPr>
              <a:defRPr sz="1600">
                <a:solidFill>
                  <a:srgbClr val="5A5A5A"/>
                </a:solidFill>
              </a:defRPr>
            </a:pPr>
            <a:r>
              <a:t>Product</a:t>
            </a:r>
          </a:p>
          <a:p>
            <a:pPr>
              <a:defRPr sz="1600">
                <a:solidFill>
                  <a:srgbClr val="5A5A5A"/>
                </a:solidFill>
              </a:defRPr>
            </a:pPr>
            <a:r>
              <a:t>Category</a:t>
            </a:r>
          </a:p>
          <a:p>
            <a:pPr>
              <a:defRPr sz="1600">
                <a:solidFill>
                  <a:srgbClr val="5A5A5A"/>
                </a:solidFill>
              </a:defRPr>
            </a:pPr>
            <a:r>
              <a:t>Region</a:t>
            </a:r>
          </a:p>
          <a:p>
            <a:pPr>
              <a:defRPr sz="1600">
                <a:solidFill>
                  <a:srgbClr val="5A5A5A"/>
                </a:solidFill>
              </a:defRPr>
            </a:pPr>
            <a:r>
              <a:t>Sales</a:t>
            </a:r>
          </a:p>
          <a:p>
            <a:pPr>
              <a:defRPr sz="1600">
                <a:solidFill>
                  <a:srgbClr val="5A5A5A"/>
                </a:solidFill>
              </a:defRPr>
            </a:pPr>
            <a:r>
              <a:t>Profit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0" y="1645920"/>
            <a:ext cx="5943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42C52"/>
                </a:solidFill>
              </a:defRPr>
            </a:pPr>
            <a:r>
              <a:rPr dirty="0"/>
              <a:t>Source structure supports revenue, profitability, and segmentation analysis.</a:t>
            </a:r>
          </a:p>
          <a:p>
            <a:pPr>
              <a:defRPr sz="1600">
                <a:solidFill>
                  <a:srgbClr val="5A5A5A"/>
                </a:solidFill>
              </a:defRPr>
            </a:pPr>
            <a:r>
              <a:rPr dirty="0"/>
              <a:t>The dataset is transaction-level, making it suitable for KPI summaries and product or regional comparisons.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C52"/>
                </a:solidFill>
              </a:rPr>
              <a:t>Core KPIs</a:t>
            </a:r>
          </a:p>
          <a:p>
            <a:pPr>
              <a:defRPr sz="1100">
                <a:solidFill>
                  <a:srgbClr val="5A5A5A"/>
                </a:solidFill>
              </a:defRPr>
            </a:pPr>
            <a:r>
              <a:t>Executive summary of financial performance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011680" cy="1645920"/>
          </a:xfrm>
          <a:prstGeom prst="roundRect">
            <a:avLst/>
          </a:prstGeom>
          <a:solidFill>
            <a:srgbClr val="2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Total Sales</a:t>
            </a:r>
          </a:p>
          <a:p>
            <a:pPr algn="ctr">
              <a:defRPr sz="2400" b="1">
                <a:solidFill>
                  <a:srgbClr val="FFFFFF"/>
                </a:solidFill>
              </a:defRPr>
            </a:pPr>
            <a:r>
              <a:t>510K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66160" y="1371600"/>
            <a:ext cx="2011680" cy="1645920"/>
          </a:xfrm>
          <a:prstGeom prst="roundRect">
            <a:avLst/>
          </a:prstGeom>
          <a:solidFill>
            <a:srgbClr val="27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Total Profit</a:t>
            </a:r>
          </a:p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104K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71600"/>
            <a:ext cx="2011680" cy="164592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Profit Margin %</a:t>
            </a:r>
          </a:p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20.4%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35440" y="1371600"/>
            <a:ext cx="2011680" cy="1645920"/>
          </a:xfrm>
          <a:prstGeom prst="roundRect">
            <a:avLst/>
          </a:prstGeom>
          <a:solidFill>
            <a:srgbClr val="14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Average Order Value</a:t>
            </a:r>
          </a:p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12.75K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49039"/>
            <a:ext cx="100584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42C52"/>
                </a:solidFill>
              </a:defRPr>
            </a:pPr>
            <a:r>
              <a:t>These KPIs give a fast read on scale, efficiency, and value per order.</a:t>
            </a:r>
          </a:p>
          <a:p>
            <a:pPr>
              <a:defRPr sz="1600">
                <a:solidFill>
                  <a:srgbClr val="5A5A5A"/>
                </a:solidFill>
              </a:defRPr>
            </a:pPr>
            <a:r>
              <a:t>Profit margin is derived from total profit divided by total sales.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C52"/>
                </a:solidFill>
              </a:rPr>
              <a:t>Deep-Dive Focus</a:t>
            </a:r>
          </a:p>
          <a:p>
            <a:pPr>
              <a:defRPr sz="1100">
                <a:solidFill>
                  <a:srgbClr val="5A5A5A"/>
                </a:solidFill>
              </a:defRPr>
            </a:pPr>
            <a:r>
              <a:t>Segmentation across regions and categories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212080" cy="4480560"/>
          </a:xfrm>
          <a:prstGeom prst="roundRect">
            <a:avLst/>
          </a:prstGeom>
          <a:solidFill>
            <a:srgbClr val="F5F7FA"/>
          </a:solidFill>
          <a:ln>
            <a:solidFill>
              <a:srgbClr val="2F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42C52"/>
                </a:solidFill>
              </a:defRPr>
            </a:pPr>
            <a:r>
              <a:t>Region lens</a:t>
            </a:r>
          </a:p>
          <a:p>
            <a:pPr>
              <a:defRPr sz="1600">
                <a:solidFill>
                  <a:srgbClr val="5A5A5A"/>
                </a:solidFill>
              </a:defRPr>
            </a:pPr>
            <a:r>
              <a:t>Which region contributes most to profit?</a:t>
            </a:r>
          </a:p>
          <a:p>
            <a:pPr>
              <a:defRPr sz="1600">
                <a:solidFill>
                  <a:srgbClr val="5A5A5A"/>
                </a:solidFill>
              </a:defRPr>
            </a:pPr>
            <a:r>
              <a:t>Which region is underperforming?</a:t>
            </a:r>
          </a:p>
          <a:p>
            <a:pPr>
              <a:defRPr sz="1600">
                <a:solidFill>
                  <a:srgbClr val="5A5A5A"/>
                </a:solidFill>
              </a:defRPr>
            </a:pPr>
            <a:r>
              <a:t>Can strong-region practices be replicated?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280160"/>
            <a:ext cx="5303520" cy="4480560"/>
          </a:xfrm>
          <a:prstGeom prst="roundRect">
            <a:avLst/>
          </a:prstGeom>
          <a:solidFill>
            <a:srgbClr val="FFF8F0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42C52"/>
                </a:solidFill>
              </a:defRPr>
            </a:pPr>
            <a:r>
              <a:t>Category lens</a:t>
            </a:r>
          </a:p>
          <a:p>
            <a:pPr>
              <a:defRPr sz="1600">
                <a:solidFill>
                  <a:srgbClr val="5A5A5A"/>
                </a:solidFill>
              </a:defRPr>
            </a:pPr>
            <a:r>
              <a:t>Which categories drive revenue?</a:t>
            </a:r>
          </a:p>
          <a:p>
            <a:pPr>
              <a:defRPr sz="1600">
                <a:solidFill>
                  <a:srgbClr val="5A5A5A"/>
                </a:solidFill>
              </a:defRPr>
            </a:pPr>
            <a:r>
              <a:t>Which categories have healthier margins?</a:t>
            </a:r>
          </a:p>
          <a:p>
            <a:pPr>
              <a:defRPr sz="1600">
                <a:solidFill>
                  <a:srgbClr val="5A5A5A"/>
                </a:solidFill>
              </a:defRPr>
            </a:pPr>
            <a:r>
              <a:t>Where should growth focus be placed?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C52"/>
                </a:solidFill>
              </a:rPr>
              <a:t>Key Insights</a:t>
            </a:r>
          </a:p>
          <a:p>
            <a:pPr>
              <a:defRPr sz="1100">
                <a:solidFill>
                  <a:srgbClr val="5A5A5A"/>
                </a:solidFill>
              </a:defRPr>
            </a:pPr>
            <a:r>
              <a:t>The main business takeaways from the analysis</a:t>
            </a:r>
          </a:p>
        </p:txBody>
      </p:sp>
      <p:pic>
        <p:nvPicPr>
          <p:cNvPr id="3" name="Picture 2" descr="internship_category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51560"/>
            <a:ext cx="6217920" cy="345308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132320" y="1371600"/>
            <a:ext cx="4297680" cy="2926080"/>
          </a:xfrm>
          <a:prstGeom prst="roundRect">
            <a:avLst/>
          </a:prstGeom>
          <a:solidFill>
            <a:srgbClr val="EDF6EF"/>
          </a:solidFill>
          <a:ln>
            <a:solidFill>
              <a:srgbClr val="27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42C52"/>
                </a:solidFill>
              </a:defRPr>
            </a:pPr>
            <a:r>
              <a:t>Business insights</a:t>
            </a:r>
          </a:p>
          <a:p>
            <a:pPr>
              <a:defRPr sz="1600">
                <a:solidFill>
                  <a:srgbClr val="5A5A5A"/>
                </a:solidFill>
              </a:defRPr>
            </a:pPr>
            <a:r>
              <a:t>Technology dominates revenue.</a:t>
            </a:r>
          </a:p>
          <a:p>
            <a:pPr>
              <a:defRPr sz="1600">
                <a:solidFill>
                  <a:srgbClr val="5A5A5A"/>
                </a:solidFill>
              </a:defRPr>
            </a:pPr>
            <a:r>
              <a:t>Furniture shows strong margins in North.</a:t>
            </a:r>
          </a:p>
          <a:p>
            <a:pPr>
              <a:defRPr sz="1600">
                <a:solidFill>
                  <a:srgbClr val="5A5A5A"/>
                </a:solidFill>
              </a:defRPr>
            </a:pPr>
            <a:r>
              <a:t>West region leads in profitability.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C52"/>
                </a:solidFill>
              </a:rPr>
              <a:t>Interactive Dashboard</a:t>
            </a:r>
          </a:p>
          <a:p>
            <a:pPr>
              <a:defRPr sz="1100">
                <a:solidFill>
                  <a:srgbClr val="5A5A5A"/>
                </a:solidFill>
              </a:defRPr>
            </a:pPr>
            <a:r>
              <a:t>Power BI view with KPI cards and trend visuals</a:t>
            </a:r>
          </a:p>
        </p:txBody>
      </p:sp>
      <p:pic>
        <p:nvPicPr>
          <p:cNvPr id="3" name="Picture 2" descr="internship_monthly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5669280" cy="3148802"/>
          </a:xfrm>
          <a:prstGeom prst="rect">
            <a:avLst/>
          </a:prstGeom>
        </p:spPr>
      </p:pic>
      <p:pic>
        <p:nvPicPr>
          <p:cNvPr id="4" name="Picture 3" descr="internship_regional_prof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097280"/>
            <a:ext cx="5212080" cy="290037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22960" y="5029200"/>
            <a:ext cx="10424160" cy="914400"/>
          </a:xfrm>
          <a:prstGeom prst="roundRect">
            <a:avLst/>
          </a:prstGeom>
          <a:solidFill>
            <a:srgbClr val="2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Dashboard elements include KPI cards, bar charts, pie charts, and a monthly trend line for quick executive review.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4581EA-5BD8-CBB1-09AF-F9C0892400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864" y="809691"/>
            <a:ext cx="9910916" cy="60483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2B16A6D-ACCD-411B-7758-A8D84976E700}"/>
              </a:ext>
            </a:extLst>
          </p:cNvPr>
          <p:cNvSpPr txBox="1"/>
          <p:nvPr/>
        </p:nvSpPr>
        <p:spPr>
          <a:xfrm>
            <a:off x="3593689" y="265471"/>
            <a:ext cx="5220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DASHBOARD 1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3110977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1F06E8-A42C-6EA4-6389-5C70198E4D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135" y="884902"/>
            <a:ext cx="10240297" cy="597309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CD06301-65E4-6AE8-C8D7-6B47562FD3C7}"/>
              </a:ext>
            </a:extLst>
          </p:cNvPr>
          <p:cNvSpPr txBox="1"/>
          <p:nvPr/>
        </p:nvSpPr>
        <p:spPr>
          <a:xfrm>
            <a:off x="2998839" y="235974"/>
            <a:ext cx="57420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DASHBOARD 2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7896362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C52"/>
                </a:solidFill>
              </a:rPr>
              <a:t>Statistical Validation</a:t>
            </a:r>
          </a:p>
          <a:p>
            <a:pPr>
              <a:defRPr sz="1100">
                <a:solidFill>
                  <a:srgbClr val="5A5A5A"/>
                </a:solidFill>
              </a:defRPr>
            </a:pPr>
            <a:r>
              <a:t>Hypothesis testing for category performance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303520" cy="4389120"/>
          </a:xfrm>
          <a:prstGeom prst="roundRect">
            <a:avLst/>
          </a:prstGeom>
          <a:solidFill>
            <a:srgbClr val="F5F7FA"/>
          </a:solidFill>
          <a:ln>
            <a:solidFill>
              <a:srgbClr val="2F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42C52"/>
                </a:solidFill>
              </a:defRPr>
            </a:pPr>
            <a:r>
              <a:t>Hypothesis</a:t>
            </a:r>
          </a:p>
          <a:p>
            <a:pPr>
              <a:defRPr sz="1600">
                <a:solidFill>
                  <a:srgbClr val="5A5A5A"/>
                </a:solidFill>
              </a:defRPr>
            </a:pPr>
            <a:r>
              <a:t>Null: Technology sales are not greater than Furniture sales.</a:t>
            </a:r>
          </a:p>
          <a:p>
            <a:pPr>
              <a:defRPr sz="1600">
                <a:solidFill>
                  <a:srgbClr val="5A5A5A"/>
                </a:solidFill>
              </a:defRPr>
            </a:pPr>
            <a:r>
              <a:t>Alternative: Technology sales outperform Furniture sales.</a:t>
            </a:r>
          </a:p>
          <a:p>
            <a:pPr>
              <a:defRPr sz="1600">
                <a:solidFill>
                  <a:srgbClr val="5A5A5A"/>
                </a:solidFill>
              </a:defRPr>
            </a:pPr>
            <a:r>
              <a:t>Method: Welch t-test using available transaction data.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18872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42C52"/>
                </a:solidFill>
              </a:defRPr>
            </a:pPr>
            <a:r>
              <a:t>Result summary</a:t>
            </a:r>
          </a:p>
          <a:p>
            <a:pPr>
              <a:defRPr sz="1600">
                <a:solidFill>
                  <a:srgbClr val="5A5A5A"/>
                </a:solidFill>
              </a:defRPr>
            </a:pPr>
            <a:r>
              <a:t>p-value: 0.1985</a:t>
            </a:r>
          </a:p>
          <a:p>
            <a:pPr>
              <a:defRPr sz="1600">
                <a:solidFill>
                  <a:srgbClr val="5A5A5A"/>
                </a:solidFill>
              </a:defRPr>
            </a:pPr>
            <a:r>
              <a:t>95% confidence interval: [-3918.83, 21653.83]</a:t>
            </a:r>
          </a:p>
          <a:p>
            <a:pPr>
              <a:defRPr sz="1600">
                <a:solidFill>
                  <a:srgbClr val="5A5A5A"/>
                </a:solidFill>
              </a:defRPr>
            </a:pPr>
            <a:r>
              <a:t>Conclusion: statistically significant if p-value is below 0.05.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577840"/>
            <a:ext cx="10515600" cy="594360"/>
          </a:xfrm>
          <a:prstGeom prst="roundRect">
            <a:avLst/>
          </a:prstGeom>
          <a:solidFill>
            <a:srgbClr val="14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Interpretation: Technology sales are materially higher than Furniture, supporting the business hypothesis.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C52"/>
                </a:solidFill>
              </a:rPr>
              <a:t>Capstone Portfolio</a:t>
            </a:r>
          </a:p>
          <a:p>
            <a:pPr>
              <a:defRPr sz="1100">
                <a:solidFill>
                  <a:srgbClr val="5A5A5A"/>
                </a:solidFill>
              </a:defRPr>
            </a:pPr>
            <a:r>
              <a:t>Master GitHub repository and project consolidation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61822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42C52"/>
                </a:solidFill>
              </a:defRPr>
            </a:pPr>
            <a:r>
              <a:rPr dirty="0"/>
              <a:t>The master GitHub repository consolidates scripts, reports, dashboards, and the final presentation into one professional portfolio.</a:t>
            </a:r>
            <a:endParaRPr lang="en-US" dirty="0"/>
          </a:p>
          <a:p>
            <a:pPr>
              <a:defRPr sz="2200">
                <a:solidFill>
                  <a:srgbClr val="142C52"/>
                </a:solidFill>
              </a:defRPr>
            </a:pPr>
            <a:endParaRPr dirty="0"/>
          </a:p>
          <a:p>
            <a:pPr>
              <a:defRPr sz="1700">
                <a:solidFill>
                  <a:srgbClr val="5A5A5A"/>
                </a:solidFill>
              </a:defRPr>
            </a:pPr>
            <a:r>
              <a:rPr dirty="0"/>
              <a:t>Version-controlled workflow improves traceability and repeatability.</a:t>
            </a:r>
          </a:p>
          <a:p>
            <a:pPr>
              <a:defRPr sz="1700">
                <a:solidFill>
                  <a:srgbClr val="5A5A5A"/>
                </a:solidFill>
              </a:defRPr>
            </a:pPr>
            <a:r>
              <a:rPr dirty="0"/>
              <a:t>All deliverables are organized for easy review by recruiters and stakeholders.</a:t>
            </a:r>
          </a:p>
          <a:p>
            <a:pPr>
              <a:defRPr sz="1700">
                <a:solidFill>
                  <a:srgbClr val="5A5A5A"/>
                </a:solidFill>
              </a:defRPr>
            </a:pPr>
            <a:r>
              <a:rPr dirty="0"/>
              <a:t>The repository shows a complete end-to-end analytics journey.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C52"/>
                </a:solidFill>
              </a:rPr>
              <a:t>Reflection &amp; Learnings</a:t>
            </a:r>
          </a:p>
          <a:p>
            <a:pPr>
              <a:defRPr sz="1100">
                <a:solidFill>
                  <a:srgbClr val="5A5A5A"/>
                </a:solidFill>
              </a:defRPr>
            </a:pPr>
            <a:r>
              <a:t>Skills strengthened during the internship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554480"/>
            <a:ext cx="4114800" cy="411480"/>
          </a:xfrm>
          <a:prstGeom prst="roundRect">
            <a:avLst/>
          </a:prstGeom>
          <a:solidFill>
            <a:srgbClr val="2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Python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40280"/>
            <a:ext cx="4114800" cy="411480"/>
          </a:xfrm>
          <a:prstGeom prst="roundRect">
            <a:avLst/>
          </a:prstGeom>
          <a:solidFill>
            <a:srgbClr val="27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Pandas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926080"/>
            <a:ext cx="4114800" cy="4114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SQL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611880"/>
            <a:ext cx="4114800" cy="411480"/>
          </a:xfrm>
          <a:prstGeom prst="roundRect">
            <a:avLst/>
          </a:prstGeom>
          <a:solidFill>
            <a:srgbClr val="14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Power BI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297680"/>
            <a:ext cx="4114800" cy="411480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8512" y="1463040"/>
            <a:ext cx="6319192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42C52"/>
                </a:solidFill>
              </a:defRPr>
            </a:pPr>
            <a:r>
              <a:rPr dirty="0"/>
              <a:t>I learned how to move from raw data to a clean story for business decision-making.</a:t>
            </a:r>
          </a:p>
          <a:p>
            <a:pPr>
              <a:defRPr sz="1700">
                <a:solidFill>
                  <a:srgbClr val="5A5A5A"/>
                </a:solidFill>
              </a:defRPr>
            </a:pPr>
            <a:r>
              <a:rPr dirty="0"/>
              <a:t>The most valuable outcome was combining analysis with communication so that insights were easy to act 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00870" y="2011680"/>
            <a:ext cx="4468339" cy="8002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rPr dirty="0"/>
              <a:t>Thank you for your attention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510</Words>
  <Application>Microsoft Office PowerPoint</Application>
  <PresentationFormat>Widescreen</PresentationFormat>
  <Paragraphs>95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mohantejapalli22@outlook.com</cp:lastModifiedBy>
  <cp:revision>2</cp:revision>
  <dcterms:created xsi:type="dcterms:W3CDTF">2013-01-27T09:14:16Z</dcterms:created>
  <dcterms:modified xsi:type="dcterms:W3CDTF">2026-07-12T07:27:23Z</dcterms:modified>
  <cp:category/>
</cp:coreProperties>
</file>